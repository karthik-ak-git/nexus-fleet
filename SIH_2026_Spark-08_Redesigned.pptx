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ieeexplore.ieee.org/document/9981353" TargetMode="External"/><Relationship Id="rId3" Type="http://schemas.openxmlformats.org/officeDocument/2006/relationships/hyperlink" Target="https://ieeexplore.ieee.org/document/10161310" TargetMode="External"/><Relationship Id="rId4" Type="http://schemas.openxmlformats.org/officeDocument/2006/relationships/hyperlink" Target="https://ieeexplore.ieee.org/document/9549796" TargetMode="External"/><Relationship Id="rId5" Type="http://schemas.openxmlformats.org/officeDocument/2006/relationships/hyperlink" Target="https://ieeexplore.ieee.org/document/10591823" TargetMode="External"/><Relationship Id="rId6" Type="http://schemas.openxmlformats.org/officeDocument/2006/relationships/hyperlink" Target="https://github.com/karthik-ak-Git/NEXUS-Fleet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548640"/>
            <a:ext cx="10728655" cy="2194560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D97706"/>
                </a:solidFill>
                <a:latin typeface="Calibri"/>
              </a:defRPr>
            </a:pPr>
            <a:r>
              <a:t>SMART INDIA HACKATHON 2026</a:t>
            </a:r>
          </a:p>
          <a:p>
            <a:pPr>
              <a:defRPr sz="2000" b="1">
                <a:solidFill>
                  <a:srgbClr val="FFFFFF"/>
                </a:solidFill>
                <a:latin typeface="Calibri"/>
              </a:defRPr>
            </a:pPr>
            <a:r>
              <a:t>Edge-AI Based Distributed Fleet Coordination for Autonomous Mobile Robots (AMRs) in Smart Warehouses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926080"/>
            <a:ext cx="521208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301752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A365D"/>
                </a:solidFill>
                <a:latin typeface="Calibri"/>
              </a:defRPr>
            </a:pPr>
            <a:r>
              <a:t>PROBLEM STATEMENT DETAILS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474720"/>
            <a:ext cx="4846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b="1" sz="1300">
                <a:solidFill>
                  <a:srgbClr val="1A365D"/>
                </a:solidFill>
              </a:rPr>
              <a:t>• Problem Statement ID:</a:t>
            </a:r>
            <a:r>
              <a:rPr sz="1300">
                <a:solidFill>
                  <a:srgbClr val="0F172A"/>
                </a:solidFill>
              </a:rPr>
              <a:t> SIH26123</a:t>
            </a:r>
          </a:p>
          <a:p>
            <a:r>
              <a:rPr b="1" sz="1300">
                <a:solidFill>
                  <a:srgbClr val="1A365D"/>
                </a:solidFill>
              </a:rPr>
              <a:t>• Problem Statement Title:</a:t>
            </a:r>
            <a:r>
              <a:rPr sz="1300">
                <a:solidFill>
                  <a:srgbClr val="0F172A"/>
                </a:solidFill>
              </a:rPr>
              <a:t> Edge-AI Based Distributed Fleet Coordination for Autonomous Mobile Robots (AMRs) in Smart Warehouses</a:t>
            </a:r>
          </a:p>
          <a:p>
            <a:r>
              <a:rPr b="1" sz="1300">
                <a:solidFill>
                  <a:srgbClr val="1A365D"/>
                </a:solidFill>
              </a:rPr>
              <a:t>• Theme:</a:t>
            </a:r>
            <a:r>
              <a:rPr sz="1300">
                <a:solidFill>
                  <a:srgbClr val="0F172A"/>
                </a:solidFill>
              </a:rPr>
              <a:t> Smart Automation</a:t>
            </a:r>
          </a:p>
          <a:p>
            <a:r>
              <a:rPr b="1" sz="1300">
                <a:solidFill>
                  <a:srgbClr val="1A365D"/>
                </a:solidFill>
              </a:rPr>
              <a:t>• PS Category:</a:t>
            </a:r>
            <a:r>
              <a:rPr sz="1300">
                <a:solidFill>
                  <a:srgbClr val="0F172A"/>
                </a:solidFill>
              </a:rPr>
              <a:t> Software</a:t>
            </a:r>
          </a:p>
          <a:p>
            <a:r>
              <a:rPr b="1" sz="1300">
                <a:solidFill>
                  <a:srgbClr val="1A365D"/>
                </a:solidFill>
              </a:rPr>
              <a:t>• Organization / Nodal Agency:</a:t>
            </a:r>
            <a:r>
              <a:rPr sz="1300">
                <a:solidFill>
                  <a:srgbClr val="0F172A"/>
                </a:solidFill>
              </a:rPr>
              <a:t> Bharat Electronics Limited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8095" y="2926080"/>
            <a:ext cx="521208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85255" y="301752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A365D"/>
                </a:solidFill>
                <a:latin typeface="Calibri"/>
              </a:defRPr>
            </a:pPr>
            <a:r>
              <a:t>TEAM &amp; SUBMISSION DETAILS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30975" y="3474720"/>
            <a:ext cx="4846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b="1" sz="1300">
                <a:solidFill>
                  <a:srgbClr val="1A365D"/>
                </a:solidFill>
              </a:rPr>
              <a:t>• Team Name:</a:t>
            </a:r>
            <a:r>
              <a:rPr sz="1300">
                <a:solidFill>
                  <a:srgbClr val="0F172A"/>
                </a:solidFill>
              </a:rPr>
              <a:t> SPARK-08</a:t>
            </a:r>
          </a:p>
          <a:p>
            <a:r>
              <a:rPr b="1" sz="1300">
                <a:solidFill>
                  <a:srgbClr val="1A365D"/>
                </a:solidFill>
              </a:rPr>
              <a:t>• Team ID:</a:t>
            </a:r>
            <a:r>
              <a:rPr sz="1300">
                <a:solidFill>
                  <a:srgbClr val="0F172A"/>
                </a:solidFill>
              </a:rPr>
              <a:t> 143472</a:t>
            </a:r>
          </a:p>
          <a:p>
            <a:r>
              <a:rPr b="1" sz="1300">
                <a:solidFill>
                  <a:srgbClr val="1A365D"/>
                </a:solidFill>
              </a:rPr>
              <a:t>• Application Name:</a:t>
            </a:r>
            <a:r>
              <a:rPr sz="1300">
                <a:solidFill>
                  <a:srgbClr val="0F172A"/>
                </a:solidFill>
              </a:rPr>
              <a:t> NEXUS-Fleet Digital Twin</a:t>
            </a:r>
          </a:p>
          <a:p>
            <a:r>
              <a:rPr b="1" sz="1300">
                <a:solidFill>
                  <a:srgbClr val="1A365D"/>
                </a:solidFill>
              </a:rPr>
              <a:t>• Target Architecture:</a:t>
            </a:r>
            <a:r>
              <a:rPr sz="1300">
                <a:solidFill>
                  <a:srgbClr val="0F172A"/>
                </a:solidFill>
              </a:rPr>
              <a:t> P2P Distributed Edge-AI Fleet Coordination</a:t>
            </a:r>
          </a:p>
          <a:p>
            <a:r>
              <a:rPr b="1" sz="1300">
                <a:solidFill>
                  <a:srgbClr val="1A365D"/>
                </a:solidFill>
              </a:rPr>
              <a:t>• Submission Stage:</a:t>
            </a:r>
            <a:r>
              <a:rPr sz="1300">
                <a:solidFill>
                  <a:srgbClr val="0F172A"/>
                </a:solidFill>
              </a:rPr>
              <a:t> SIH 2026 Grand Finale Solution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Calibri"/>
              </a:defRPr>
            </a:pPr>
            <a:r>
              <a:t>PROPOSED SOLUTION</a:t>
            </a:r>
          </a:p>
          <a:p>
            <a:pPr>
              <a:defRPr sz="1100">
                <a:solidFill>
                  <a:srgbClr val="CBD5E1"/>
                </a:solidFill>
                <a:latin typeface="Calibri"/>
              </a:defRPr>
            </a:pPr>
            <a:r>
              <a:t>SMART INDIA HACKATHON 2026  |  PROBLEM STATEMENT ID: SIH26123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26880" y="228600"/>
            <a:ext cx="2103120" cy="54864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TEAM: SPARK-08  | 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188720"/>
            <a:ext cx="521208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28016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A365D"/>
                </a:solidFill>
                <a:latin typeface="Calibri"/>
              </a:defRPr>
            </a:pPr>
            <a:r>
              <a:t>How It addresses 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645920"/>
            <a:ext cx="49377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b="1" sz="1100">
                <a:solidFill>
                  <a:srgbClr val="1A365D"/>
                </a:solidFill>
              </a:rPr>
              <a:t>• Decentralized Communication: </a:t>
            </a:r>
            <a:r>
              <a:rPr sz="1100">
                <a:solidFill>
                  <a:srgbClr val="0F172A"/>
                </a:solidFill>
              </a:rPr>
              <a:t>AMRs exchange pose, intent, task and reservation state directly; no central fleet brain makes every decision.</a:t>
            </a:r>
          </a:p>
          <a:p>
            <a:r>
              <a:rPr b="1" sz="1100">
                <a:solidFill>
                  <a:srgbClr val="1A365D"/>
                </a:solidFill>
              </a:rPr>
              <a:t>• Dynamic Conflict Resolution: </a:t>
            </a:r>
            <a:r>
              <a:rPr sz="1100">
                <a:solidFill>
                  <a:srgbClr val="0F172A"/>
                </a:solidFill>
              </a:rPr>
              <a:t>Robots predict route/ETA conflicts at intersections and narrow aisles, then negotiate who yields or reroutes.</a:t>
            </a:r>
          </a:p>
          <a:p>
            <a:r>
              <a:rPr b="1" sz="1100">
                <a:solidFill>
                  <a:srgbClr val="1A365D"/>
                </a:solidFill>
              </a:rPr>
              <a:t>• Task Allocation &amp; Re-routing: </a:t>
            </a:r>
            <a:r>
              <a:rPr sz="1100">
                <a:solidFill>
                  <a:srgbClr val="0F172A"/>
                </a:solidFill>
              </a:rPr>
              <a:t>Robots independently bid for tasks and re-plan when an aisle becomes blocked or another robot fails.</a:t>
            </a:r>
          </a:p>
          <a:p>
            <a:r>
              <a:rPr b="1" sz="1100">
                <a:solidFill>
                  <a:srgbClr val="1A365D"/>
                </a:solidFill>
              </a:rPr>
              <a:t>• Edge Execution: </a:t>
            </a:r>
            <a:r>
              <a:rPr sz="1100">
                <a:solidFill>
                  <a:srgbClr val="0F172A"/>
                </a:solidFill>
              </a:rPr>
              <a:t>The RobotAgent is designed to run locally on Raspberry Pi / Jetson-class hardware.</a:t>
            </a:r>
          </a:p>
          <a:p>
            <a:r>
              <a:rPr b="1" sz="1100">
                <a:solidFill>
                  <a:srgbClr val="1A365D"/>
                </a:solidFill>
              </a:rPr>
              <a:t>• Fleet Visibility: </a:t>
            </a:r>
            <a:r>
              <a:rPr sz="1100">
                <a:solidFill>
                  <a:srgbClr val="0F172A"/>
                </a:solidFill>
              </a:rPr>
              <a:t>The existing 3D dashboard observes live positions, battery, tasks, reservations and events.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8095" y="1188720"/>
            <a:ext cx="521208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85255" y="128016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A365D"/>
                </a:solidFill>
                <a:latin typeface="Calibri"/>
              </a:defRPr>
            </a:pPr>
            <a:r>
              <a:t>Detailed explanation of the proposed solution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5255" y="1645920"/>
            <a:ext cx="49377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F172A"/>
                </a:solidFill>
              </a:defRPr>
            </a:pPr>
            <a:r>
              <a:t>NEXUS-Fleet turns each AMR into an autonomous edge agent. Every robot maintains a local world model, plans its own route, evaluates tasks, communicates intent with peers, requests time-based corridor reservations, detects deadlocks and recovers from blocked aisles or communication loss. The web application remains the digital-twin and observability layer while the same agent architecture is prepared for physical edge deployment.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434840"/>
            <a:ext cx="685800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526280"/>
            <a:ext cx="6583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A365D"/>
                </a:solidFill>
                <a:latin typeface="Calibri"/>
              </a:defRPr>
            </a:pPr>
            <a:r>
              <a:t>Autonomous Coordination Workflow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4892040"/>
            <a:ext cx="1234440" cy="1463040"/>
          </a:xfrm>
          <a:prstGeom prst="round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D97706"/>
                </a:solidFill>
              </a:defRPr>
            </a:pPr>
            <a:r>
              <a:t>1</a:t>
            </a:r>
          </a:p>
          <a:p>
            <a:pPr algn="ctr">
              <a:defRPr b="1" sz="1100">
                <a:solidFill>
                  <a:srgbClr val="FFFFFF"/>
                </a:solidFill>
              </a:defRPr>
            </a:pPr>
            <a:r>
              <a:t>OBSERVE</a:t>
            </a:r>
          </a:p>
          <a:p>
            <a:pPr algn="ctr">
              <a:defRPr sz="900">
                <a:solidFill>
                  <a:srgbClr val="E2E8F0"/>
                </a:solidFill>
              </a:defRPr>
            </a:pPr>
            <a:r>
              <a:t>pose • peers • tasks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167128" y="4892040"/>
            <a:ext cx="1234440" cy="1463040"/>
          </a:xfrm>
          <a:prstGeom prst="round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D97706"/>
                </a:solidFill>
              </a:defRPr>
            </a:pPr>
            <a:r>
              <a:t>2</a:t>
            </a:r>
          </a:p>
          <a:p>
            <a:pPr algn="ctr">
              <a:defRPr b="1" sz="1100">
                <a:solidFill>
                  <a:srgbClr val="FFFFFF"/>
                </a:solidFill>
              </a:defRPr>
            </a:pPr>
            <a:r>
              <a:t>PREDICT</a:t>
            </a:r>
          </a:p>
          <a:p>
            <a:pPr algn="ctr">
              <a:defRPr sz="900">
                <a:solidFill>
                  <a:srgbClr val="E2E8F0"/>
                </a:solidFill>
              </a:defRPr>
            </a:pPr>
            <a:r>
              <a:t>ETA • conflict • risk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65576" y="4892040"/>
            <a:ext cx="1234440" cy="1463040"/>
          </a:xfrm>
          <a:prstGeom prst="round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D97706"/>
                </a:solidFill>
              </a:defRPr>
            </a:pPr>
            <a:r>
              <a:t>3</a:t>
            </a:r>
          </a:p>
          <a:p>
            <a:pPr algn="ctr">
              <a:defRPr b="1" sz="1100">
                <a:solidFill>
                  <a:srgbClr val="FFFFFF"/>
                </a:solidFill>
              </a:defRPr>
            </a:pPr>
            <a:r>
              <a:t>NEGOTIATE</a:t>
            </a:r>
          </a:p>
          <a:p>
            <a:pPr algn="ctr">
              <a:defRPr sz="900">
                <a:solidFill>
                  <a:srgbClr val="E2E8F0"/>
                </a:solidFill>
              </a:defRPr>
            </a:pPr>
            <a:r>
              <a:t>priority • reservation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64024" y="4892040"/>
            <a:ext cx="1234440" cy="1463040"/>
          </a:xfrm>
          <a:prstGeom prst="round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D97706"/>
                </a:solidFill>
              </a:defRPr>
            </a:pPr>
            <a:r>
              <a:t>4</a:t>
            </a:r>
          </a:p>
          <a:p>
            <a:pPr algn="ctr">
              <a:defRPr b="1" sz="1100">
                <a:solidFill>
                  <a:srgbClr val="FFFFFF"/>
                </a:solidFill>
              </a:defRPr>
            </a:pPr>
            <a:r>
              <a:t>ACT</a:t>
            </a:r>
          </a:p>
          <a:p>
            <a:pPr algn="ctr">
              <a:defRPr sz="900">
                <a:solidFill>
                  <a:srgbClr val="E2E8F0"/>
                </a:solidFill>
              </a:defRPr>
            </a:pPr>
            <a:r>
              <a:t>route • safe motion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62472" y="4892040"/>
            <a:ext cx="1234440" cy="1463040"/>
          </a:xfrm>
          <a:prstGeom prst="round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D97706"/>
                </a:solidFill>
              </a:defRPr>
            </a:pPr>
            <a:r>
              <a:t>5</a:t>
            </a:r>
          </a:p>
          <a:p>
            <a:pPr algn="ctr">
              <a:defRPr b="1" sz="1100">
                <a:solidFill>
                  <a:srgbClr val="FFFFFF"/>
                </a:solidFill>
              </a:defRPr>
            </a:pPr>
            <a:r>
              <a:t>RECOVER</a:t>
            </a:r>
          </a:p>
          <a:p>
            <a:pPr algn="ctr">
              <a:defRPr sz="900">
                <a:solidFill>
                  <a:srgbClr val="E2E8F0"/>
                </a:solidFill>
              </a:defRPr>
            </a:pPr>
            <a:r>
              <a:t>reroute • reassign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0" y="4434840"/>
            <a:ext cx="3687775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09560" y="4526280"/>
            <a:ext cx="34134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A365D"/>
                </a:solidFill>
                <a:latin typeface="Calibri"/>
              </a:defRPr>
            </a:pPr>
            <a:r>
              <a:t>Innovation &amp; Uniqueness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9560" y="4846320"/>
            <a:ext cx="3413455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b="1" sz="950">
                <a:solidFill>
                  <a:srgbClr val="1A365D"/>
                </a:solidFill>
              </a:rPr>
              <a:t>• Robot-as-Agent: </a:t>
            </a:r>
            <a:r>
              <a:rPr sz="950">
                <a:solidFill>
                  <a:srgbClr val="0F172A"/>
                </a:solidFill>
              </a:rPr>
              <a:t>fleet autonomy is distributed across robots rather than hidden inside a central controller.</a:t>
            </a:r>
          </a:p>
          <a:p>
            <a:r>
              <a:rPr b="1" sz="950">
                <a:solidFill>
                  <a:srgbClr val="1A365D"/>
                </a:solidFill>
              </a:rPr>
              <a:t>• Spatio-temporal reservations: </a:t>
            </a:r>
            <a:r>
              <a:rPr sz="950">
                <a:solidFill>
                  <a:srgbClr val="0F172A"/>
                </a:solidFill>
              </a:rPr>
              <a:t>a corridor/intersection is reserved for a robot over a time window, not merely marked occupied.</a:t>
            </a:r>
          </a:p>
          <a:p>
            <a:r>
              <a:rPr b="1" sz="950">
                <a:solidFill>
                  <a:srgbClr val="1A365D"/>
                </a:solidFill>
              </a:rPr>
              <a:t>• Explainable autonomy: </a:t>
            </a:r>
            <a:r>
              <a:rPr sz="950">
                <a:solidFill>
                  <a:srgbClr val="0F172A"/>
                </a:solidFill>
              </a:rPr>
              <a:t>each yield, reroute, task award and recovery records a structured reason.</a:t>
            </a:r>
          </a:p>
          <a:p>
            <a:r>
              <a:rPr b="1" sz="950">
                <a:solidFill>
                  <a:srgbClr val="1A365D"/>
                </a:solidFill>
              </a:rPr>
              <a:t>• Measured evidence: </a:t>
            </a:r>
            <a:r>
              <a:rPr sz="950">
                <a:solidFill>
                  <a:srgbClr val="0F172A"/>
                </a:solidFill>
              </a:rPr>
              <a:t>stop-and-wait is benchmarked under identical scenarios instead of hard-coding an improvement claim.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Calibri"/>
              </a:defRPr>
            </a:pPr>
            <a:r>
              <a:t>TECHNICAL APPROACH</a:t>
            </a:r>
          </a:p>
          <a:p>
            <a:pPr>
              <a:defRPr sz="1100">
                <a:solidFill>
                  <a:srgbClr val="CBD5E1"/>
                </a:solidFill>
                <a:latin typeface="Calibri"/>
              </a:defRPr>
            </a:pPr>
            <a:r>
              <a:t>SMART INDIA HACKATHON 2026  |  PROBLEM STATEMENT ID: SIH26123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26880" y="228600"/>
            <a:ext cx="2103120" cy="54864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TEAM: SPARK-08  |  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188720"/>
            <a:ext cx="3383280" cy="5303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28016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A365D"/>
                </a:solidFill>
                <a:latin typeface="Calibri"/>
              </a:defRPr>
            </a:pPr>
            <a:r>
              <a:t>Technologies to be used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645920"/>
            <a:ext cx="3108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b="1" sz="1100">
                <a:solidFill>
                  <a:srgbClr val="1A365D"/>
                </a:solidFill>
              </a:rPr>
              <a:t>• Frontend: </a:t>
            </a:r>
            <a:r>
              <a:rPr sz="1050">
                <a:solidFill>
                  <a:srgbClr val="0F172A"/>
                </a:solidFill>
              </a:rPr>
              <a:t>React / Next.js + TypeScript + existing Three.js warehouse scene.</a:t>
            </a:r>
          </a:p>
          <a:p>
            <a:r>
              <a:rPr b="1" sz="1100">
                <a:solidFill>
                  <a:srgbClr val="1A365D"/>
                </a:solidFill>
              </a:rPr>
              <a:t>• Backend: </a:t>
            </a:r>
            <a:r>
              <a:rPr sz="1050">
                <a:solidFill>
                  <a:srgbClr val="0F172A"/>
                </a:solidFill>
              </a:rPr>
              <a:t>Python, FastAPI, asyncio and WebSockets.</a:t>
            </a:r>
          </a:p>
          <a:p>
            <a:r>
              <a:rPr b="1" sz="1100">
                <a:solidFill>
                  <a:srgbClr val="1A365D"/>
                </a:solidFill>
              </a:rPr>
              <a:t>• Agent Runtime: </a:t>
            </a:r>
            <a:r>
              <a:rPr sz="1050">
                <a:solidFill>
                  <a:srgbClr val="0F172A"/>
                </a:solidFill>
              </a:rPr>
              <a:t>Independent RobotAgent processes with local state and decision policy.</a:t>
            </a:r>
          </a:p>
          <a:p>
            <a:r>
              <a:rPr b="1" sz="1100">
                <a:solidFill>
                  <a:srgbClr val="1A365D"/>
                </a:solidFill>
              </a:rPr>
              <a:t>• Planning: </a:t>
            </a:r>
            <a:r>
              <a:rPr sz="1050">
                <a:solidFill>
                  <a:srgbClr val="0F172A"/>
                </a:solidFill>
              </a:rPr>
              <a:t>Warehouse graph + A* route planning with congestion, battery and reservation costs.</a:t>
            </a:r>
          </a:p>
          <a:p>
            <a:r>
              <a:rPr b="1" sz="1100">
                <a:solidFill>
                  <a:srgbClr val="1A365D"/>
                </a:solidFill>
              </a:rPr>
              <a:t>• Coordination: </a:t>
            </a:r>
            <a:r>
              <a:rPr sz="1050">
                <a:solidFill>
                  <a:srgbClr val="0F172A"/>
                </a:solidFill>
              </a:rPr>
              <a:t>Peer messages, task bidding, reservations, negotiation and deadlock recovery.</a:t>
            </a:r>
          </a:p>
          <a:p>
            <a:r>
              <a:rPr b="1" sz="1100">
                <a:solidFill>
                  <a:srgbClr val="1A365D"/>
                </a:solidFill>
              </a:rPr>
              <a:t>• Safety: </a:t>
            </a:r>
            <a:r>
              <a:rPr sz="1050">
                <a:solidFill>
                  <a:srgbClr val="0F172A"/>
                </a:solidFill>
              </a:rPr>
              <a:t>Local collision monitoring, stale-peer handling and safe stop/slow behavior.</a:t>
            </a:r>
          </a:p>
          <a:p>
            <a:r>
              <a:rPr b="1" sz="1100">
                <a:solidFill>
                  <a:srgbClr val="1A365D"/>
                </a:solidFill>
              </a:rPr>
              <a:t>• Storage: </a:t>
            </a:r>
            <a:r>
              <a:rPr sz="1050">
                <a:solidFill>
                  <a:srgbClr val="0F172A"/>
                </a:solidFill>
              </a:rPr>
              <a:t>PostgreSQL / event ledger for tasks, events, reservations and benchmark runs.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188720"/>
            <a:ext cx="3383280" cy="5303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28016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A365D"/>
                </a:solidFill>
                <a:latin typeface="Calibri"/>
              </a:defRPr>
            </a:pPr>
            <a:r>
              <a:t>Methodology &amp; Implementation Process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1645920"/>
            <a:ext cx="3108960" cy="658368"/>
          </a:xfrm>
          <a:prstGeom prst="round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00">
                <a:solidFill>
                  <a:srgbClr val="D97706"/>
                </a:solidFill>
              </a:defRPr>
            </a:pPr>
            <a:r>
              <a:t>EXISTING 3D DIGITAL TWIN</a:t>
            </a:r>
          </a:p>
          <a:p>
            <a:pPr algn="ctr">
              <a:defRPr sz="950">
                <a:solidFill>
                  <a:srgbClr val="FFFFFF"/>
                </a:solidFill>
              </a:defRPr>
            </a:pPr>
            <a:r>
              <a:t>renders live robot state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2286000"/>
            <a:ext cx="3108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0D9488"/>
                </a:solidFill>
              </a:defRPr>
            </a:pPr>
            <a:r>
              <a:t>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26280" y="2542032"/>
            <a:ext cx="3108960" cy="658368"/>
          </a:xfrm>
          <a:prstGeom prst="round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00">
                <a:solidFill>
                  <a:srgbClr val="D97706"/>
                </a:solidFill>
              </a:defRPr>
            </a:pPr>
            <a:r>
              <a:t>FASTAPI + WEBSOCKET</a:t>
            </a:r>
          </a:p>
          <a:p>
            <a:pPr algn="ctr">
              <a:defRPr sz="950">
                <a:solidFill>
                  <a:srgbClr val="FFFFFF"/>
                </a:solidFill>
              </a:defRPr>
            </a:pPr>
            <a:r>
              <a:t>real-time state / events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3182112"/>
            <a:ext cx="3108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0D9488"/>
                </a:solidFill>
              </a:defRPr>
            </a:pPr>
            <a:r>
              <a:t>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26280" y="3438144"/>
            <a:ext cx="3108960" cy="658368"/>
          </a:xfrm>
          <a:prstGeom prst="round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00">
                <a:solidFill>
                  <a:srgbClr val="D97706"/>
                </a:solidFill>
              </a:defRPr>
            </a:pPr>
            <a:r>
              <a:t>ROBOT AGENT RUNTIME</a:t>
            </a:r>
          </a:p>
          <a:p>
            <a:pPr algn="ctr">
              <a:defRPr sz="950">
                <a:solidFill>
                  <a:srgbClr val="FFFFFF"/>
                </a:solidFill>
              </a:defRPr>
            </a:pPr>
            <a:r>
              <a:t>independent decision loops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4078224"/>
            <a:ext cx="3108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0D9488"/>
                </a:solidFill>
              </a:defRPr>
            </a:pPr>
            <a:r>
              <a:t>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26280" y="4334256"/>
            <a:ext cx="3108960" cy="658368"/>
          </a:xfrm>
          <a:prstGeom prst="round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00">
                <a:solidFill>
                  <a:srgbClr val="D97706"/>
                </a:solidFill>
              </a:defRPr>
            </a:pPr>
            <a:r>
              <a:t>P2P COORDINATION</a:t>
            </a:r>
          </a:p>
          <a:p>
            <a:pPr algn="ctr">
              <a:defRPr sz="950">
                <a:solidFill>
                  <a:srgbClr val="FFFFFF"/>
                </a:solidFill>
              </a:defRPr>
            </a:pPr>
            <a:r>
              <a:t>intent • bids • reservations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4974336"/>
            <a:ext cx="3108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0D9488"/>
                </a:solidFill>
              </a:defRPr>
            </a:pPr>
            <a:r>
              <a:t>↓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26280" y="5230368"/>
            <a:ext cx="3108960" cy="658368"/>
          </a:xfrm>
          <a:prstGeom prst="round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00">
                <a:solidFill>
                  <a:srgbClr val="D97706"/>
                </a:solidFill>
              </a:defRPr>
            </a:pPr>
            <a:r>
              <a:t>PLANNING + SAFETY</a:t>
            </a:r>
          </a:p>
          <a:p>
            <a:pPr algn="ctr">
              <a:defRPr sz="950">
                <a:solidFill>
                  <a:srgbClr val="FFFFFF"/>
                </a:solidFill>
              </a:defRPr>
            </a:pPr>
            <a:r>
              <a:t>A* • conflict • deadlock • safe motion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20" y="1188720"/>
            <a:ext cx="3413455" cy="5303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83880" y="1280160"/>
            <a:ext cx="313913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A365D"/>
                </a:solidFill>
                <a:latin typeface="Calibri"/>
              </a:defRPr>
            </a:pPr>
            <a:r>
              <a:t>Core Algorithms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3879" y="1645920"/>
            <a:ext cx="31391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b="1" sz="1050">
                <a:solidFill>
                  <a:srgbClr val="1A365D"/>
                </a:solidFill>
              </a:rPr>
              <a:t>• Task bidding: </a:t>
            </a:r>
            <a:r>
              <a:rPr sz="1000">
                <a:solidFill>
                  <a:srgbClr val="0F172A"/>
                </a:solidFill>
              </a:rPr>
              <a:t>ETA + distance + battery + workload + conflict risk.</a:t>
            </a:r>
          </a:p>
          <a:p>
            <a:r>
              <a:rPr b="1" sz="1050">
                <a:solidFill>
                  <a:srgbClr val="1A365D"/>
                </a:solidFill>
              </a:rPr>
              <a:t>• A*: </a:t>
            </a:r>
            <a:r>
              <a:rPr sz="1000">
                <a:solidFill>
                  <a:srgbClr val="0F172A"/>
                </a:solidFill>
              </a:rPr>
              <a:t>dynamic route cost over the warehouse graph.</a:t>
            </a:r>
          </a:p>
          <a:p>
            <a:r>
              <a:rPr b="1" sz="1050">
                <a:solidFill>
                  <a:srgbClr val="1A365D"/>
                </a:solidFill>
              </a:rPr>
              <a:t>• Conflict prediction: </a:t>
            </a:r>
            <a:r>
              <a:rPr sz="1000">
                <a:solidFill>
                  <a:srgbClr val="0F172A"/>
                </a:solidFill>
              </a:rPr>
              <a:t>route/edge/node/ETA overlap before collision.</a:t>
            </a:r>
          </a:p>
          <a:p>
            <a:r>
              <a:rPr b="1" sz="1050">
                <a:solidFill>
                  <a:srgbClr val="1A365D"/>
                </a:solidFill>
              </a:rPr>
              <a:t>• Reservations: </a:t>
            </a:r>
            <a:r>
              <a:rPr sz="1000">
                <a:solidFill>
                  <a:srgbClr val="0F172A"/>
                </a:solidFill>
              </a:rPr>
              <a:t>time-bounded corridor/intersection leases.</a:t>
            </a:r>
          </a:p>
          <a:p>
            <a:r>
              <a:rPr b="1" sz="1050">
                <a:solidFill>
                  <a:srgbClr val="1A365D"/>
                </a:solidFill>
              </a:rPr>
              <a:t>• Negotiation: </a:t>
            </a:r>
            <a:r>
              <a:rPr sz="1000">
                <a:solidFill>
                  <a:srgbClr val="0F172A"/>
                </a:solidFill>
              </a:rPr>
              <a:t>priority, wait time, urgency and fairness.</a:t>
            </a:r>
          </a:p>
          <a:p>
            <a:r>
              <a:rPr b="1" sz="1050">
                <a:solidFill>
                  <a:srgbClr val="1A365D"/>
                </a:solidFill>
              </a:rPr>
              <a:t>• Deadlock: </a:t>
            </a:r>
            <a:r>
              <a:rPr sz="1000">
                <a:solidFill>
                  <a:srgbClr val="0F172A"/>
                </a:solidFill>
              </a:rPr>
              <a:t>wait-for graph cycle detection and recovery.</a:t>
            </a:r>
          </a:p>
          <a:p>
            <a:r>
              <a:rPr b="1" sz="1050">
                <a:solidFill>
                  <a:srgbClr val="1A365D"/>
                </a:solidFill>
              </a:rPr>
              <a:t>• Rerouting: </a:t>
            </a:r>
            <a:r>
              <a:rPr sz="1000">
                <a:solidFill>
                  <a:srgbClr val="0F172A"/>
                </a:solidFill>
              </a:rPr>
              <a:t>blocked-edge invalidation and alternate path planning.</a:t>
            </a:r>
          </a:p>
          <a:p>
            <a:r>
              <a:rPr b="1" sz="1050">
                <a:solidFill>
                  <a:srgbClr val="1A365D"/>
                </a:solidFill>
              </a:rPr>
              <a:t>• Benchmark: </a:t>
            </a:r>
            <a:r>
              <a:rPr sz="1000">
                <a:solidFill>
                  <a:srgbClr val="0F172A"/>
                </a:solidFill>
              </a:rPr>
              <a:t>completion time, waiting, distance, collisions, deadlocks and throughput.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Calibri"/>
              </a:defRPr>
            </a:pPr>
            <a:r>
              <a:t>FEASIBILITY AND VIABILITY</a:t>
            </a:r>
          </a:p>
          <a:p>
            <a:pPr>
              <a:defRPr sz="1100">
                <a:solidFill>
                  <a:srgbClr val="CBD5E1"/>
                </a:solidFill>
                <a:latin typeface="Calibri"/>
              </a:defRPr>
            </a:pPr>
            <a:r>
              <a:t>SMART INDIA HACKATHON 2026  |  PROBLEM STATEMENT ID: SIH26123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26880" y="228600"/>
            <a:ext cx="2103120" cy="54864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TEAM: SPARK-08  |  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188720"/>
            <a:ext cx="52120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28016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A365D"/>
                </a:solidFill>
                <a:latin typeface="Calibri"/>
              </a:defRPr>
            </a:pPr>
            <a:r>
              <a:t>Feasibility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645920"/>
            <a:ext cx="49377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b="1" sz="1200">
                <a:solidFill>
                  <a:srgbClr val="1A365D"/>
                </a:solidFill>
              </a:rPr>
              <a:t>• Simulation-first: </a:t>
            </a:r>
            <a:r>
              <a:rPr sz="1150">
                <a:solidFill>
                  <a:srgbClr val="0F172A"/>
                </a:solidFill>
              </a:rPr>
              <a:t>the expected solution calls for a multi-robot simulation before physical deployment.</a:t>
            </a:r>
          </a:p>
          <a:p>
            <a:r>
              <a:rPr b="1" sz="1200">
                <a:solidFill>
                  <a:srgbClr val="1A365D"/>
                </a:solidFill>
              </a:rPr>
              <a:t>• Existing UI: </a:t>
            </a:r>
            <a:r>
              <a:rPr sz="1150">
                <a:solidFill>
                  <a:srgbClr val="0F172A"/>
                </a:solidFill>
              </a:rPr>
              <a:t>the current Three.js warehouse is retained, reducing implementation risk on visualization.</a:t>
            </a:r>
          </a:p>
          <a:p>
            <a:r>
              <a:rPr b="1" sz="1200">
                <a:solidFill>
                  <a:srgbClr val="1A365D"/>
                </a:solidFill>
              </a:rPr>
              <a:t>• Edge-ready: </a:t>
            </a:r>
            <a:r>
              <a:rPr sz="1150">
                <a:solidFill>
                  <a:srgbClr val="0F172A"/>
                </a:solidFill>
              </a:rPr>
              <a:t>RobotAgent logic is separated from the browser and can be packaged for local edge hardware.</a:t>
            </a:r>
          </a:p>
          <a:p>
            <a:r>
              <a:rPr b="1" sz="1200">
                <a:solidFill>
                  <a:srgbClr val="1A365D"/>
                </a:solidFill>
              </a:rPr>
              <a:t>• Computationally practical: </a:t>
            </a:r>
            <a:r>
              <a:rPr sz="1150">
                <a:solidFill>
                  <a:srgbClr val="0F172A"/>
                </a:solidFill>
              </a:rPr>
              <a:t>A*, graph reasoning, reservations and wait-for graphs are lightweight compared with cloud-scale inference.</a:t>
            </a:r>
          </a:p>
          <a:p>
            <a:r>
              <a:rPr b="1" sz="1200">
                <a:solidFill>
                  <a:srgbClr val="1A365D"/>
                </a:solidFill>
              </a:rPr>
              <a:t>• Incremental MVP: </a:t>
            </a:r>
            <a:r>
              <a:rPr sz="1150">
                <a:solidFill>
                  <a:srgbClr val="0F172A"/>
                </a:solidFill>
              </a:rPr>
              <a:t>3 AMRs → coordination → failure scenarios → benchmark → edge deployment path.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8095" y="1188720"/>
            <a:ext cx="52120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85255" y="128016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A365D"/>
                </a:solidFill>
                <a:latin typeface="Calibri"/>
              </a:defRPr>
            </a:pPr>
            <a:r>
              <a:t>Viability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5255" y="1645920"/>
            <a:ext cx="49377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b="1" sz="1200">
                <a:solidFill>
                  <a:srgbClr val="1A365D"/>
                </a:solidFill>
              </a:rPr>
              <a:t>• Warehouse productivity: </a:t>
            </a:r>
            <a:r>
              <a:rPr sz="1150">
                <a:solidFill>
                  <a:srgbClr val="0F172A"/>
                </a:solidFill>
              </a:rPr>
              <a:t>reduces unnecessary waiting by coordinating shared-space access.</a:t>
            </a:r>
          </a:p>
          <a:p>
            <a:r>
              <a:rPr b="1" sz="1200">
                <a:solidFill>
                  <a:srgbClr val="1A365D"/>
                </a:solidFill>
              </a:rPr>
              <a:t>• Resilience: </a:t>
            </a:r>
            <a:r>
              <a:rPr sz="1150">
                <a:solidFill>
                  <a:srgbClr val="0F172A"/>
                </a:solidFill>
              </a:rPr>
              <a:t>blocked aisles, robot failures and stale communication become recoverable states.</a:t>
            </a:r>
          </a:p>
          <a:p>
            <a:r>
              <a:rPr b="1" sz="1200">
                <a:solidFill>
                  <a:srgbClr val="1A365D"/>
                </a:solidFill>
              </a:rPr>
              <a:t>• Explainability: </a:t>
            </a:r>
            <a:r>
              <a:rPr sz="1150">
                <a:solidFill>
                  <a:srgbClr val="0F172A"/>
                </a:solidFill>
              </a:rPr>
              <a:t>event ledger records why an agent selected a task, yielded or rerouted.</a:t>
            </a:r>
          </a:p>
          <a:p>
            <a:r>
              <a:rPr b="1" sz="1200">
                <a:solidFill>
                  <a:srgbClr val="1A365D"/>
                </a:solidFill>
              </a:rPr>
              <a:t>• Scalability: </a:t>
            </a:r>
            <a:r>
              <a:rPr sz="1150">
                <a:solidFill>
                  <a:srgbClr val="0F172A"/>
                </a:solidFill>
              </a:rPr>
              <a:t>typed APIs and peer messages support more robots without redesigning the UI.</a:t>
            </a:r>
          </a:p>
          <a:p>
            <a:r>
              <a:rPr b="1" sz="1200">
                <a:solidFill>
                  <a:srgbClr val="1A365D"/>
                </a:solidFill>
              </a:rPr>
              <a:t>• Evidence-based evaluation: </a:t>
            </a:r>
            <a:r>
              <a:rPr sz="1150">
                <a:solidFill>
                  <a:srgbClr val="0F172A"/>
                </a:solidFill>
              </a:rPr>
              <a:t>same map, tasks, seed and initial conditions are used for baseline comparison.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486400"/>
            <a:ext cx="10728655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577840"/>
            <a:ext cx="1045433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A365D"/>
                </a:solidFill>
                <a:latin typeface="Calibri"/>
              </a:defRPr>
            </a:pPr>
            <a:r>
              <a:t>Key validation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852160"/>
            <a:ext cx="104543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D9488"/>
                </a:solidFill>
              </a:defRPr>
            </a:pPr>
            <a:r>
              <a:t>Key validation: zero inter-robot collisions is a test criterion; ≥20% task-time reduction is a target to be measured, not a pre-claimed result.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Calibri"/>
              </a:defRPr>
            </a:pPr>
            <a:r>
              <a:t>IMPACT AND BENEFITS</a:t>
            </a:r>
          </a:p>
          <a:p>
            <a:pPr>
              <a:defRPr sz="1100">
                <a:solidFill>
                  <a:srgbClr val="CBD5E1"/>
                </a:solidFill>
                <a:latin typeface="Calibri"/>
              </a:defRPr>
            </a:pPr>
            <a:r>
              <a:t>SMART INDIA HACKATHON 2026  |  PROBLEM STATEMENT ID: SIH26123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26880" y="228600"/>
            <a:ext cx="2103120" cy="54864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TEAM: SPARK-08  |  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188720"/>
            <a:ext cx="6217920" cy="5303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280160"/>
            <a:ext cx="5943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A365D"/>
                </a:solidFill>
                <a:latin typeface="Calibri"/>
              </a:defRPr>
            </a:pPr>
            <a:r>
              <a:t>Potential impact on the target audience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645920"/>
            <a:ext cx="5943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b="1" sz="1050">
                <a:solidFill>
                  <a:srgbClr val="1A365D"/>
                </a:solidFill>
              </a:rPr>
              <a:t>1. Safer shared-space operation — </a:t>
            </a:r>
            <a:r>
              <a:rPr sz="1000">
                <a:solidFill>
                  <a:srgbClr val="0F172A"/>
                </a:solidFill>
              </a:rPr>
              <a:t>Predict conflicts before robots physically meet and apply local yielding / rerouting.</a:t>
            </a:r>
          </a:p>
          <a:p>
            <a:r>
              <a:rPr b="1" sz="1050">
                <a:solidFill>
                  <a:srgbClr val="1A365D"/>
                </a:solidFill>
              </a:rPr>
              <a:t>2. Reduced waiting — </a:t>
            </a:r>
            <a:r>
              <a:rPr sz="1000">
                <a:solidFill>
                  <a:srgbClr val="0F172A"/>
                </a:solidFill>
              </a:rPr>
              <a:t>Time-based reservations replace unnecessary stop-and-wait at recurring choke points.</a:t>
            </a:r>
          </a:p>
          <a:p>
            <a:r>
              <a:rPr b="1" sz="1050">
                <a:solidFill>
                  <a:srgbClr val="1A365D"/>
                </a:solidFill>
              </a:rPr>
              <a:t>3. Faster task completion — </a:t>
            </a:r>
            <a:r>
              <a:rPr sz="1000">
                <a:solidFill>
                  <a:srgbClr val="0F172A"/>
                </a:solidFill>
              </a:rPr>
              <a:t>Benchmark makes completion-time improvement measurable under overlapping paths.</a:t>
            </a:r>
          </a:p>
          <a:p>
            <a:r>
              <a:rPr b="1" sz="1050">
                <a:solidFill>
                  <a:srgbClr val="1A365D"/>
                </a:solidFill>
              </a:rPr>
              <a:t>4. Faster response to blockage — </a:t>
            </a:r>
            <a:r>
              <a:rPr sz="1000">
                <a:solidFill>
                  <a:srgbClr val="0F172A"/>
                </a:solidFill>
              </a:rPr>
              <a:t>Blocked aisles trigger route invalidation and autonomous replanning.</a:t>
            </a:r>
          </a:p>
          <a:p>
            <a:r>
              <a:rPr b="1" sz="1050">
                <a:solidFill>
                  <a:srgbClr val="1A365D"/>
                </a:solidFill>
              </a:rPr>
              <a:t>5. Resilient fleet operation — </a:t>
            </a:r>
            <a:r>
              <a:rPr sz="1000">
                <a:solidFill>
                  <a:srgbClr val="0F172A"/>
                </a:solidFill>
              </a:rPr>
              <a:t>A robot can fail or lose communication without freezing the whole fleet.</a:t>
            </a:r>
          </a:p>
          <a:p>
            <a:r>
              <a:rPr b="1" sz="1050">
                <a:solidFill>
                  <a:srgbClr val="1A365D"/>
                </a:solidFill>
              </a:rPr>
              <a:t>6. Explainable decisions — </a:t>
            </a:r>
            <a:r>
              <a:rPr sz="1000">
                <a:solidFill>
                  <a:srgbClr val="0F172A"/>
                </a:solidFill>
              </a:rPr>
              <a:t>Operators can inspect the exact reason for task, reservation and recovery decisions.</a:t>
            </a:r>
          </a:p>
          <a:p>
            <a:r>
              <a:rPr b="1" sz="1050">
                <a:solidFill>
                  <a:srgbClr val="1A365D"/>
                </a:solidFill>
              </a:rPr>
              <a:t>7. Edge deployment path — </a:t>
            </a:r>
            <a:r>
              <a:rPr sz="1000">
                <a:solidFill>
                  <a:srgbClr val="0F172A"/>
                </a:solidFill>
              </a:rPr>
              <a:t>Local RobotAgent execution reduces dependence on continuous cloud connectivity.</a:t>
            </a:r>
          </a:p>
          <a:p>
            <a:r>
              <a:rPr b="1" sz="1050">
                <a:solidFill>
                  <a:srgbClr val="1A365D"/>
                </a:solidFill>
              </a:rPr>
              <a:t>8. Scalable warehouse coordination — </a:t>
            </a:r>
            <a:r>
              <a:rPr sz="1000">
                <a:solidFill>
                  <a:srgbClr val="0F172A"/>
                </a:solidFill>
              </a:rPr>
              <a:t>The same architecture can support additional AMRs and scenarios.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0" y="1188720"/>
            <a:ext cx="4327855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69480" y="1280160"/>
            <a:ext cx="405353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A365D"/>
                </a:solidFill>
                <a:latin typeface="Calibri"/>
              </a:defRPr>
            </a:pPr>
            <a:r>
              <a:t>Benefits of the solution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9480" y="1645920"/>
            <a:ext cx="1965960" cy="960120"/>
          </a:xfrm>
          <a:prstGeom prst="round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00">
                <a:solidFill>
                  <a:srgbClr val="D97706"/>
                </a:solidFill>
              </a:defRPr>
            </a:pPr>
            <a:r>
              <a:t>DECENTRALIZED</a:t>
            </a:r>
          </a:p>
          <a:p>
            <a:pPr algn="ctr">
              <a:defRPr sz="950">
                <a:solidFill>
                  <a:srgbClr val="FFFFFF"/>
                </a:solidFill>
              </a:defRPr>
            </a:pPr>
            <a:r>
              <a:t>No single fleet decision-maker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26880" y="1645920"/>
            <a:ext cx="1965960" cy="960120"/>
          </a:xfrm>
          <a:prstGeom prst="round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00">
                <a:solidFill>
                  <a:srgbClr val="D97706"/>
                </a:solidFill>
              </a:defRPr>
            </a:pPr>
            <a:r>
              <a:t>PREDICTIVE</a:t>
            </a:r>
          </a:p>
          <a:p>
            <a:pPr algn="ctr">
              <a:defRPr sz="950">
                <a:solidFill>
                  <a:srgbClr val="FFFFFF"/>
                </a:solidFill>
              </a:defRPr>
            </a:pPr>
            <a:r>
              <a:t>Conflict detection before collision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69480" y="2743200"/>
            <a:ext cx="1965960" cy="960120"/>
          </a:xfrm>
          <a:prstGeom prst="round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00">
                <a:solidFill>
                  <a:srgbClr val="D97706"/>
                </a:solidFill>
              </a:defRPr>
            </a:pPr>
            <a:r>
              <a:t>ADAPTIVE</a:t>
            </a:r>
          </a:p>
          <a:p>
            <a:pPr algn="ctr">
              <a:defRPr sz="950">
                <a:solidFill>
                  <a:srgbClr val="FFFFFF"/>
                </a:solidFill>
              </a:defRPr>
            </a:pPr>
            <a:r>
              <a:t>Blocked-aisle rerouting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26880" y="2743200"/>
            <a:ext cx="1965960" cy="960120"/>
          </a:xfrm>
          <a:prstGeom prst="round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00">
                <a:solidFill>
                  <a:srgbClr val="D97706"/>
                </a:solidFill>
              </a:defRPr>
            </a:pPr>
            <a:r>
              <a:t>RESILIENT</a:t>
            </a:r>
          </a:p>
          <a:p>
            <a:pPr algn="ctr">
              <a:defRPr sz="950">
                <a:solidFill>
                  <a:srgbClr val="FFFFFF"/>
                </a:solidFill>
              </a:defRPr>
            </a:pPr>
            <a:r>
              <a:t>Communication / failure recovery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69480" y="3840480"/>
            <a:ext cx="1965960" cy="960120"/>
          </a:xfrm>
          <a:prstGeom prst="round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00">
                <a:solidFill>
                  <a:srgbClr val="D97706"/>
                </a:solidFill>
              </a:defRPr>
            </a:pPr>
            <a:r>
              <a:t>EXPLAINABLE</a:t>
            </a:r>
          </a:p>
          <a:p>
            <a:pPr algn="ctr">
              <a:defRPr sz="950">
                <a:solidFill>
                  <a:srgbClr val="FFFFFF"/>
                </a:solidFill>
              </a:defRPr>
            </a:pPr>
            <a:r>
              <a:t>Event ledger + decision reasons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26880" y="3840480"/>
            <a:ext cx="1965960" cy="960120"/>
          </a:xfrm>
          <a:prstGeom prst="round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00">
                <a:solidFill>
                  <a:srgbClr val="D97706"/>
                </a:solidFill>
              </a:defRPr>
            </a:pPr>
            <a:r>
              <a:t>MEASURABLE</a:t>
            </a:r>
          </a:p>
          <a:p>
            <a:pPr algn="ctr">
              <a:defRPr sz="950">
                <a:solidFill>
                  <a:srgbClr val="FFFFFF"/>
                </a:solidFill>
              </a:defRPr>
            </a:pPr>
            <a:r>
              <a:t>Baseline benchmark + KPIs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0" y="5349240"/>
            <a:ext cx="4327855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69480" y="5440680"/>
            <a:ext cx="405353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A365D"/>
                </a:solidFill>
                <a:latin typeface="Calibri"/>
              </a:defRPr>
            </a:pPr>
            <a:r>
              <a:t>Primary beneficiaries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69480" y="5715000"/>
            <a:ext cx="405353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</a:defRPr>
            </a:pPr>
            <a:r>
              <a:t>Primary beneficiaries: warehouse operators, fulfillment centers, logistics teams and organizations deploying multi-AMR fleets.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Calibri"/>
              </a:defRPr>
            </a:pPr>
            <a:r>
              <a:t>RESEARCH AND REFERENCES</a:t>
            </a:r>
          </a:p>
          <a:p>
            <a:pPr>
              <a:defRPr sz="1100">
                <a:solidFill>
                  <a:srgbClr val="CBD5E1"/>
                </a:solidFill>
                <a:latin typeface="Calibri"/>
              </a:defRPr>
            </a:pPr>
            <a:r>
              <a:t>SMART INDIA HACKATHON 2026  |  PROBLEM STATEMENT ID: SIH26123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26880" y="228600"/>
            <a:ext cx="2103120" cy="54864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TEAM: SPARK-08  |  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188720"/>
            <a:ext cx="621792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280160"/>
            <a:ext cx="5943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A365D"/>
                </a:solidFill>
                <a:latin typeface="Calibri"/>
              </a:defRPr>
            </a:pPr>
            <a:r>
              <a:t>IEEE / Research Foundations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645920"/>
            <a:ext cx="5943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b="1" sz="1000">
                <a:solidFill>
                  <a:srgbClr val="1A365D"/>
                </a:solidFill>
              </a:rPr>
              <a:t>1. DC-MRTA — Decentralized Multi-Robot Task Allocation and Navigation in Complex Environments</a:t>
            </a:r>
          </a:p>
          <a:p>
            <a:r>
              <a:rPr sz="950">
                <a:solidFill>
                  <a:srgbClr val="0F172A"/>
                </a:solidFill>
              </a:rPr>
              <a:t>A. Agrawal et al., IEEE/RSJ IROS 2022. Combines decentralized task allocation with ORCA-based navigation for warehouse robots. DOI: 10.1109/IROS47612.2022.9981353</a:t>
            </a:r>
          </a:p>
          <a:p>
            <a:r>
              <a:rPr sz="900">
                <a:solidFill>
                  <a:srgbClr val="2563EB"/>
                </a:solidFill>
                <a:hlinkClick r:id="rId2"/>
              </a:rPr>
              <a:t>https://ieeexplore.ieee.org/document/9981353</a:t>
            </a:r>
          </a:p>
          <a:p>
            <a:r>
              <a:rPr b="1" sz="1000">
                <a:solidFill>
                  <a:srgbClr val="1A365D"/>
                </a:solidFill>
              </a:rPr>
              <a:t>2. RTAW — An Attention Inspired Reinforcement Learning Method for Multi-Robot Task Allocation in Warehouse Environments</a:t>
            </a:r>
          </a:p>
          <a:p>
            <a:r>
              <a:rPr sz="950">
                <a:solidFill>
                  <a:srgbClr val="0F172A"/>
                </a:solidFill>
              </a:rPr>
              <a:t>IEEE ICRA 2023. Studies multi-robot task allocation in warehouse environments and reports large-scale simulation results. DOI: 10.1109/ICRA48891.2023.10161310</a:t>
            </a:r>
          </a:p>
          <a:p>
            <a:r>
              <a:rPr sz="900">
                <a:solidFill>
                  <a:srgbClr val="2563EB"/>
                </a:solidFill>
                <a:hlinkClick r:id="rId3"/>
              </a:rPr>
              <a:t>https://ieeexplore.ieee.org/document/10161310</a:t>
            </a:r>
          </a:p>
          <a:p>
            <a:r>
              <a:rPr b="1" sz="1000">
                <a:solidFill>
                  <a:srgbClr val="1A365D"/>
                </a:solidFill>
              </a:rPr>
              <a:t>3. A Multi-robot Task Allocation and Path Planning Method for Warehouse System</a:t>
            </a:r>
          </a:p>
          <a:p>
            <a:r>
              <a:rPr sz="950">
                <a:solidFill>
                  <a:srgbClr val="0F172A"/>
                </a:solidFill>
              </a:rPr>
              <a:t>IEEE conference publication on joint multi-robot task allocation and path planning for warehouse systems.</a:t>
            </a:r>
          </a:p>
          <a:p>
            <a:r>
              <a:rPr sz="900">
                <a:solidFill>
                  <a:srgbClr val="2563EB"/>
                </a:solidFill>
                <a:hlinkClick r:id="rId4"/>
              </a:rPr>
              <a:t>https://ieeexplore.ieee.org/document/9549796</a:t>
            </a:r>
          </a:p>
          <a:p>
            <a:r>
              <a:rPr b="1" sz="1000">
                <a:solidFill>
                  <a:srgbClr val="1A365D"/>
                </a:solidFill>
              </a:rPr>
              <a:t>4. Decentralized Task Allocation for Redundant Multi-Robot Systems: An Iterative Consensus Approach</a:t>
            </a:r>
          </a:p>
          <a:p>
            <a:r>
              <a:rPr sz="950">
                <a:solidFill>
                  <a:srgbClr val="0F172A"/>
                </a:solidFill>
              </a:rPr>
              <a:t>IEEE ICCA 2024. Uses local information for decentralized task allocation and considers fault resilience.</a:t>
            </a:r>
          </a:p>
          <a:p>
            <a:r>
              <a:rPr sz="900">
                <a:solidFill>
                  <a:srgbClr val="2563EB"/>
                </a:solidFill>
                <a:hlinkClick r:id="rId5"/>
              </a:rPr>
              <a:t>https://ieeexplore.ieee.org/document/10591823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0" y="1188720"/>
            <a:ext cx="4327855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69480" y="1280160"/>
            <a:ext cx="405353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A365D"/>
                </a:solidFill>
                <a:latin typeface="Calibri"/>
              </a:defRPr>
            </a:pPr>
            <a:r>
              <a:t>WAREHOUSE VIDEO REFERENCE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69480" y="1645920"/>
            <a:ext cx="405353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1A365D"/>
                </a:solidFill>
              </a:defRPr>
            </a:pPr>
            <a:r>
              <a:t>World's most advanced robotic warehouse (AI automation)</a:t>
            </a:r>
          </a:p>
          <a:p>
            <a:pPr>
              <a:defRPr b="1" sz="1050">
                <a:solidFill>
                  <a:srgbClr val="D97706"/>
                </a:solidFill>
              </a:defRPr>
            </a:pPr>
            <a:r>
              <a:t>Brightpick • 2024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A useful visual reference for ecommerce warehouse AMRs, robotic picking, navigation, order buffering, packout and software coordination.</a:t>
            </a:r>
          </a:p>
          <a:p>
            <a:pPr>
              <a:defRPr sz="1000">
                <a:solidFill>
                  <a:srgbClr val="2563EB"/>
                </a:solidFill>
              </a:defRPr>
            </a:pPr>
            <a:r>
              <a:t>YouTube video:</a:t>
            </a:r>
            <a:br/>
            <a:r>
              <a:t>https://www.youtube.com/watch?v=U2AGLeJBFNg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The video had 867K+ views at the time of research and shows a real ecommerce-warehouse workflow that is useful as a visual reference for our simulation.</a:t>
            </a:r>
          </a:p>
          <a:p>
            <a:pPr>
              <a:defRPr b="1" sz="1050">
                <a:solidFill>
                  <a:srgbClr val="1A365D"/>
                </a:solidFill>
              </a:defRPr>
            </a:pPr>
            <a:r>
              <a:t>Project Repository &amp; Documentation:</a:t>
            </a:r>
          </a:p>
          <a:p>
            <a:r>
              <a:rPr sz="950" b="1">
                <a:solidFill>
                  <a:srgbClr val="2563EB"/>
                </a:solidFill>
                <a:hlinkClick r:id="rId6"/>
              </a:rPr>
              <a:t>https://github.com/karthik-ak-Git/NEXUS-Fleet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263640"/>
            <a:ext cx="107286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NEXUS-Fleet • SIH26123 • SPARK-08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